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5200" b="1" i="0">
                <a:solidFill>
                  <a:srgbClr val="C9A227"/>
                </a:solidFill>
                <a:latin typeface="David"/>
              </a:rPr>
              <a:t>Aurex — פלטפורמת מסחר מבוזרת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Decentralized Blockchain-Based Image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0" i="0">
                <a:solidFill>
                  <a:srgbClr val="B0BEC5"/>
                </a:solidFill>
                <a:latin typeface="Calibri"/>
              </a:rPr>
              <a:t>נדב כהן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93776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מה זה Aurex?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What is Aurex?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  <a:latin typeface="Calibri"/>
              </a:rPr>
              <a:t>◆  פלטפורמה מבוזרת לרכישה ומכירה של תמונות דיגיטליות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  <a:latin typeface="Calibri"/>
              </a:rPr>
              <a:t>◆  כל עסקה נחתמת קריפטוגרפית ונרשמת בבלוקצ'יין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51176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  <a:latin typeface="Calibri"/>
              </a:rPr>
              <a:t>◆  אין סמכות מרכזית — רשת של Blockchain Nodes מאמתת את העסקאות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C9A227"/>
                </a:solidFill>
                <a:latin typeface="Calibri"/>
              </a:rPr>
              <a:t>◆  ארכיטקטורה מודולרית: Client · Server · Gateway · Blockchain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1">
                <a:solidFill>
                  <a:srgbClr val="B0BEC5"/>
                </a:solidFill>
                <a:latin typeface="Calibri"/>
              </a:rPr>
              <a:t>"הבלוקצ'יין הוא הקופאית — היא לא בוחרת מה קונים, רק מאמתת את התשלום"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ארכיטקטורה כללית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2194560" cy="137160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D1B2A"/>
                </a:solidFill>
                <a:latin typeface="Calibri"/>
              </a:rPr>
              <a:t>Client
(Flet UI)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71600"/>
            <a:ext cx="2194560" cy="1371600"/>
          </a:xfrm>
          <a:prstGeom prst="rect">
            <a:avLst/>
          </a:prstGeom>
          <a:solidFill>
            <a:srgbClr val="1A6B5A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Server
(Marketplace)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286000"/>
            <a:ext cx="2194560" cy="1371600"/>
          </a:xfrm>
          <a:prstGeom prst="rect">
            <a:avLst/>
          </a:prstGeom>
          <a:solidFill>
            <a:srgbClr val="1A3A6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Gateway
(Star Hub)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2286000"/>
            <a:ext cx="2194560" cy="1371600"/>
          </a:xfrm>
          <a:prstGeom prst="rect">
            <a:avLst/>
          </a:prstGeom>
          <a:solidFill>
            <a:srgbClr val="5A1A1A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Blockchain
Node ×N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  <a:latin typeface="Calibri"/>
              </a:rPr>
              <a:t>⟶  RSA+AES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  <a:latin typeface="Calibri"/>
              </a:rPr>
              <a:t>⟶  TCP /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  <a:latin typeface="Calibri"/>
              </a:rPr>
              <a:t>⟶  TCP /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931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  <a:latin typeface="Calibri"/>
              </a:rPr>
              <a:t>UDP Broadcast — Gateway Discovery (WHRSV / SRVAT)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1" i="0">
                <a:solidFill>
                  <a:srgbClr val="C9A227"/>
                </a:solidFill>
                <a:latin typeface="Calibri"/>
              </a:rPr>
              <a:t>טופולוגיית כוכב — Gateway הוא המרכז היחיד שמתקשר עם כל הצמתים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Client — ממשק המשתמש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Client (Flet 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מבוסס Flet (Flutter/Python)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7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ניהול ארנק מקומי (ECDSA secp256k1)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59734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חתימה על עסקאות לפני שליחה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80941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מטמון תמונות חכם (RAM + Disk)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0214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Push Events מהשרת (BALANCE_IS, ect.)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25880"/>
            <a:ext cx="5303520" cy="2560320"/>
          </a:xfrm>
          <a:prstGeom prst="rect">
            <a:avLst/>
          </a:prstGeom>
          <a:solidFill>
            <a:srgbClr val="0A0F1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51206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# wallet_manager.py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def sign_payload(self, payload: dict) -&gt; str: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private_key = _private_key_from_hex(self.private_key)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sig = private_key.sign(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_canonical_json_bytes(payload),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ec.ECDSA(hashes.SHA256())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return sig.hex()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1">
                <a:solidFill>
                  <a:srgbClr val="C9A227"/>
                </a:solidFill>
                <a:latin typeface="Calibri"/>
              </a:rPr>
              <a:t>המפתח הפרטי לא עוזב את המכשיר — החתימה היא ההוכחה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Server — לוגיקת המסחר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Server (Marketplace Logic)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מנהל משתמשים, נכסים, התראות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7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ORM מעל JSON (users.json, marketplace_items.json)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59734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כל בקשה מנותבת לפי type בהודעה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80941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Push Events לכלאיינטים מחוברים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02148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תקשורת עם Gateway בלבד — לא ישירות לנודים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25880"/>
            <a:ext cx="5394960" cy="2560320"/>
          </a:xfrm>
          <a:prstGeom prst="rect">
            <a:avLst/>
          </a:prstGeom>
          <a:solidFill>
            <a:srgbClr val="0A0F1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2120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# server_module.py (handler dispatch)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self.handlers = {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"LOGIN":          self.handle_login,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"REGISTER":       self.handle_register,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"GET_ASSETS_IDS": self.handle_get_assets_ids,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"BUY_ASSET":      self.handle_buy_asset,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"SEND_BALANCE":   self.handle_send_balance,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...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Gateway — מנגנון הניתוב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Gateway (Star-Topology Hub)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מתווך בין Server לבין Blockchain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4767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UDP Discovery: מאזין ל-WHRSV ← Bnode, מחזיר SRVAT|ip|port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7802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מנתב הודעות לפי type ועם טופולוגיית כוכב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08376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מצפין תקשורת עם RSA+AES לכל ישות בנפרד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3872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אין מצב (Stateless) — אין ledger משלו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9A227"/>
                </a:solidFill>
                <a:latin typeface="Calibri"/>
              </a:rPr>
              <a:t>WHRSV  →  Gateway  →  SRVAT|ip|port  →  TCP handshake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Blockchain Node — הצומת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Blockchain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שומר ledger.json + balances.json לכל צומת בנפרד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4767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מקבל עסקאות מה-Gateway, מאמת ועושה Proof of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7802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מסנכרן גרסת Ledger עם עמיתים (Peer Sync)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08376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לאחר כריה מוצלחת — מודיע ל-Gateway (BUY_SUCCESS / SELL_SUCCESS)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3872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שרת RSA לכל חיבור נכנס מעמיתים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1">
                <a:solidFill>
                  <a:srgbClr val="C9A227"/>
                </a:solidFill>
                <a:latin typeface="Calibri"/>
              </a:rPr>
              <a:t>כל צומת עצמאי — אם צומת אחד נופל, הרשת ממשיכה לפעול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400" b="1" i="0">
                <a:solidFill>
                  <a:srgbClr val="C9A227"/>
                </a:solidFill>
                <a:latin typeface="David"/>
              </a:rPr>
              <a:t>אלגוריתמים מרכזיים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BEC5"/>
                </a:solidFill>
                <a:latin typeface="Calibri"/>
              </a:rPr>
              <a:t>Core Algorithms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Proof of Work — הרעיון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Proof of Work (PoW)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0" i="1">
                <a:solidFill>
                  <a:srgbClr val="C9A227"/>
                </a:solidFill>
                <a:latin typeface="Calibri"/>
              </a:rPr>
              <a:t>"מצא מספר (nonce) כך שה-SHA-256 של הבלוק מתחיל ב-N אפסים"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קשה לבצע — מצריך כוח חישוב רב (brute-force)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Calibri"/>
              </a:rPr>
              <a:t>◆  קל לאמת — כל אחד יכול לבדוק SHA-256 בשנייה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5526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B0BEC5"/>
                </a:solidFill>
                <a:latin typeface="Calibri"/>
              </a:rPr>
              <a:t>◆  Difficulty = מספר ה-0 ההתחלתיים הנדרשים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8561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B0BEC5"/>
                </a:solidFill>
                <a:latin typeface="Calibri"/>
              </a:rPr>
              <a:t>◆  ככל שה-Difficulty גדל — העבודה קשה אקספוננציאלית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1">
                <a:solidFill>
                  <a:srgbClr val="B0BEC5"/>
                </a:solidFill>
                <a:latin typeface="Calibri"/>
              </a:rPr>
              <a:t>"חדר מנעולים" — קל לבדוק שמפתח פותח דלת, קשה לנחש את המפתח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PoW — מימוש בקוד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Proof of Work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7315200" cy="4206240"/>
          </a:xfrm>
          <a:prstGeom prst="rect">
            <a:avLst/>
          </a:prstGeom>
          <a:solidFill>
            <a:srgbClr val="0A0F1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132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# blockchain/Bnode.py — mine()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def mine(self, transaction: dict):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new_block = {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"index":     len(self.chain),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"prev_hash": self._last_hash(),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"timestamp": datetime.now().isoformat(),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"tx":        transaction,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"nonce":     0,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"difficulty": self.difficulty,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}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target = "0" * self.difficulty          # e.g. "000"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while not self.stop_event.is_set():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digest = self._block_hash(new_block) # SHA-256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if digest.startswith(target):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    new_block["hash"] = digest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    break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new_block["nonce"] += 1             # try next nonce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self.logger.info(f"Block found nonce={new_block['nonce']} hash={new_block['hash'][:16]}...")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return new_block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227"/>
                </a:solidFill>
                <a:latin typeface="Calibri"/>
              </a:rPr>
              <a:t>SHA-256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B0BEC5"/>
                </a:solidFill>
                <a:latin typeface="Calibri"/>
              </a:rPr>
              <a:t>פונקציית הגיבוב — חד-כיוונית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227"/>
                </a:solidFill>
                <a:latin typeface="Calibri"/>
              </a:rPr>
              <a:t>nonce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060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B0BEC5"/>
                </a:solidFill>
                <a:latin typeface="Calibri"/>
              </a:rPr>
              <a:t>המספר שמשנים בכל ניסיון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154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227"/>
                </a:solidFill>
                <a:latin typeface="Calibri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474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B0BEC5"/>
                </a:solidFill>
                <a:latin typeface="Calibri"/>
              </a:rPr>
              <a:t>מחרוזת האפסים הנדרשת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023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227"/>
                </a:solidFill>
                <a:latin typeface="Calibri"/>
              </a:rPr>
              <a:t>difficulty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3434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B0BEC5"/>
                </a:solidFill>
                <a:latin typeface="Calibri"/>
              </a:rPr>
              <a:t>רמת הקושי (מוגדרת ב-config)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PoW — זרימת תהליך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PoW Mining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08176"/>
            <a:ext cx="38404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Calibri"/>
              </a:rPr>
              <a:t>קבלת עסקה מה-Gateway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081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  <a:latin typeface="Calibri"/>
              </a:rPr>
              <a:t>TX_REQUEST_BUY / TX_REQUEST_SELL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8105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57984"/>
            <a:ext cx="38404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214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Calibri"/>
              </a:rPr>
              <a:t>אימות חתימה (ECDSA verify)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579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  <a:latin typeface="Calibri"/>
              </a:rPr>
              <a:t>validate_tx()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560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712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Calibri"/>
              </a:rPr>
              <a:t>בניית מבנה הבלוק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077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  <a:latin typeface="Calibri"/>
              </a:rPr>
              <a:t>index, prev_hash, tx, nonce=0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33101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38404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210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Calibri"/>
              </a:rPr>
              <a:t>לולאת Proof of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576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  <a:latin typeface="Calibri"/>
              </a:rPr>
              <a:t>SHA-256 → hash.startswith(target)?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40599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07408"/>
            <a:ext cx="38404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708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Calibri"/>
              </a:rPr>
              <a:t>שמירה ב-Ledger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4074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  <a:latin typeface="Calibri"/>
              </a:rPr>
              <a:t>add_block() → ledger.json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48097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57216"/>
            <a:ext cx="38404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Calibri"/>
              </a:rPr>
              <a:t>הודעה ל-Gateway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1572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  <a:latin typeface="Calibri"/>
              </a:rPr>
              <a:t>BUY_SUCCESS / SELL_SUCCESS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ECDSA — חתימה דיגיטלית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ECDSA (Elliptic Curve Digital Signature Algorithm)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200" b="1" i="0">
                <a:solidFill>
                  <a:srgbClr val="C9A227"/>
                </a:solidFill>
                <a:latin typeface="Calibri"/>
              </a:rPr>
              <a:t>עקומה: secp256k1   ·   y² = x³ + 7   ·   (mod p)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3657600" cy="4114800"/>
          </a:xfrm>
          <a:prstGeom prst="rect">
            <a:avLst/>
          </a:prstGeom>
          <a:solidFill>
            <a:srgbClr val="10243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1" i="0">
                <a:solidFill>
                  <a:srgbClr val="C9A227"/>
                </a:solidFill>
                <a:latin typeface="Calibri"/>
              </a:rPr>
              <a:t>ייצור מפתחות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  <a:latin typeface="Calibri"/>
              </a:rPr>
              <a:t>Key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346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d  ←  rand(1, n-1)           # מפתח פרטי (סוד)
Q = d · G                    # מפתח ציבורי (פומבי)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965960"/>
            <a:ext cx="3657600" cy="4114800"/>
          </a:xfrm>
          <a:prstGeom prst="rect">
            <a:avLst/>
          </a:prstGeom>
          <a:solidFill>
            <a:srgbClr val="10243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057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1" i="0">
                <a:solidFill>
                  <a:srgbClr val="C9A227"/>
                </a:solidFill>
                <a:latin typeface="Calibri"/>
              </a:rPr>
              <a:t>חתימה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  <a:latin typeface="Calibri"/>
              </a:rPr>
              <a:t>Signing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346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k  ←  rand
r = (k·G).x mod n
s = k⁻¹(hash(m) + r·d) mod n
חתימה = (r, 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965960"/>
            <a:ext cx="3657600" cy="4114800"/>
          </a:xfrm>
          <a:prstGeom prst="rect">
            <a:avLst/>
          </a:prstGeom>
          <a:solidFill>
            <a:srgbClr val="10243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057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1" i="0">
                <a:solidFill>
                  <a:srgbClr val="C9A227"/>
                </a:solidFill>
                <a:latin typeface="Calibri"/>
              </a:rPr>
              <a:t>אימות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  <a:latin typeface="Calibri"/>
              </a:rPr>
              <a:t>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8346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w = s⁻¹ mod n
u1 = hash(m)·w mod n
u2 = r·w mod n
צ.ל. r ≡ (u1·G + u2·Q).x mod 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ECDSA — מימוש בקוד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ECDSA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7406640" cy="4937760"/>
          </a:xfrm>
          <a:prstGeom prst="rect">
            <a:avLst/>
          </a:prstGeom>
          <a:solidFill>
            <a:srgbClr val="0A0F1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2237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# wallet_manager.py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# 1. יצירת ארנק חדש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def generate_wallet(self, username: str) -&gt; WalletData: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private_key = ec.generate_private_key(ec.SECP256K1())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private_hex = private_key.private_numbers().private_value \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                      .to_bytes(32, "big").hex()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public_hex  = _public_key_hex_from_private(private_key)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return WalletData(username, public_hex, private_hex)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# 2. חתימה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def sign_payload(self, payload: dict) -&gt; str: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priv = _private_key_from_hex(self.private_key)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sig  = priv.sign(_canonical_json_bytes(payload),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             ec.ECDSA(hashes.SHA256()))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return sig.hex()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# 3. אימות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def verify_signature(self, payload: dict, sig_hex: str) -&gt; bool: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pub = _public_key_from_hex(self.public_key)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pub.verify(bytes.fromhex(sig_hex),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       _canonical_json_bytes(payload),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           ec.ECDSA(hashes.SHA256()))</a:t>
            </a:r>
          </a:p>
          <a:p>
            <a:pPr algn="l"/>
            <a:r>
              <a:rPr sz="1300">
                <a:solidFill>
                  <a:srgbClr val="61AFEF"/>
                </a:solidFill>
                <a:latin typeface="Courier New"/>
              </a:rPr>
              <a:t>    return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libri"/>
              </a:rPr>
              <a:t>secp256k1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8013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B0BEC5"/>
                </a:solidFill>
                <a:latin typeface="Calibri"/>
              </a:rPr>
              <a:t>אותה עקומה כמו ב-Bitcoin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313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libri"/>
              </a:rPr>
              <a:t>ECDSA(SHA-256)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651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B0BEC5"/>
                </a:solidFill>
                <a:latin typeface="Calibri"/>
              </a:rPr>
              <a:t>חותמים על ה-Hash של ה-payload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1638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libri"/>
              </a:rPr>
              <a:t>_canonical_json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5021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B0BEC5"/>
                </a:solidFill>
                <a:latin typeface="Calibri"/>
              </a:rPr>
              <a:t>JSON ממוין — מבטיח hash עקבי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0142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libri"/>
              </a:rPr>
              <a:t>hex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3525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B0BEC5"/>
                </a:solidFill>
                <a:latin typeface="Calibri"/>
              </a:rPr>
              <a:t>מפתחות וחתימות כ-hex strings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864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libri"/>
              </a:rPr>
              <a:t>Low-S norm.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2029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B0BEC5"/>
                </a:solidFill>
                <a:latin typeface="Calibri"/>
              </a:rPr>
              <a:t>מניעת signature malleability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ECDSA — למה זה בטוח?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ECDSA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0" i="1">
                <a:solidFill>
                  <a:srgbClr val="B0BEC5"/>
                </a:solidFill>
                <a:latin typeface="Calibri"/>
              </a:rPr>
              <a:t>אנלוגיה: חותמת גומי אישית — כל אחד יכול לאמת, רק אתה יכול לחתום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ECDLP  (Elliptic Curve Discrete Log Problem)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FFFFFF"/>
                </a:solidFill>
                <a:latin typeface="Calibri"/>
              </a:rPr>
              <a:t>נתון Q=d·G — בלתי אפשרי לחשב d בזמן סביר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C9A227"/>
                </a:solidFill>
                <a:latin typeface="Calibri"/>
              </a:rPr>
              <a:t>חד-כיוניות  (One-Way Function)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FFFFFF"/>
                </a:solidFill>
                <a:latin typeface="Calibri"/>
              </a:rPr>
              <a:t>קל לחשב Q מ-d, בלתי ניתן להפוך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C9A227"/>
                </a:solidFill>
                <a:latin typeface="Calibri"/>
              </a:rPr>
              <a:t>ייחודיות  (Non-Repudiation)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FFFFFF"/>
                </a:solidFill>
                <a:latin typeface="Calibri"/>
              </a:rPr>
              <a:t>אי אפשר לזייף חתימה ללא המפתח הפרטי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Low-S  (Signature Malleability Protection)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FFFFFF"/>
                </a:solidFill>
                <a:latin typeface="Calibri"/>
              </a:rPr>
              <a:t>s מנורמל ל-s ≤ n/2 כדי למנוע שינוי חתימה תקינה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מחזור חיי עסקה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Transaction Life-Cycle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468880" cy="438912"/>
          </a:xfrm>
          <a:prstGeom prst="rect">
            <a:avLst/>
          </a:prstGeom>
          <a:solidFill>
            <a:srgbClr val="10243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C9A227"/>
                </a:solidFill>
                <a:latin typeface="Calibri"/>
              </a:rP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99032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חותם על הבקשה (ECDSA) ושולח לשרת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21408"/>
            <a:ext cx="2468880" cy="438912"/>
          </a:xfrm>
          <a:prstGeom prst="rect">
            <a:avLst/>
          </a:prstGeom>
          <a:solidFill>
            <a:srgbClr val="10243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C9A227"/>
                </a:solidFill>
                <a:latin typeface="Calibri"/>
              </a:rPr>
              <a:t>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מאמת הרשאות, מעביר ל-Gateway: TX_REQUEST_BUY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71216"/>
            <a:ext cx="2468880" cy="438912"/>
          </a:xfrm>
          <a:prstGeom prst="rect">
            <a:avLst/>
          </a:prstGeom>
          <a:solidFill>
            <a:srgbClr val="10243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C9A227"/>
                </a:solidFill>
                <a:latin typeface="Calibri"/>
              </a:rPr>
              <a:t>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898648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מנתב לכל Blockchain 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32841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21024"/>
            <a:ext cx="2468880" cy="438912"/>
          </a:xfrm>
          <a:prstGeom prst="rect">
            <a:avLst/>
          </a:prstGeom>
          <a:solidFill>
            <a:srgbClr val="10243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C9A227"/>
                </a:solidFill>
                <a:latin typeface="Calibri"/>
              </a:rPr>
              <a:t>Blockchain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4845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מאמת ECDSA ← עושה PoW ← שומר בלוק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7822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70832"/>
            <a:ext cx="2468880" cy="438912"/>
          </a:xfrm>
          <a:prstGeom prst="rect">
            <a:avLst/>
          </a:prstGeom>
          <a:solidFill>
            <a:srgbClr val="10243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C9A227"/>
                </a:solidFill>
                <a:latin typeface="Calibri"/>
              </a:rPr>
              <a:t>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398264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מקבל BUY_SUCCESS, מודיע לשרת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2803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20640"/>
            <a:ext cx="2468880" cy="438912"/>
          </a:xfrm>
          <a:prstGeom prst="rect">
            <a:avLst/>
          </a:prstGeom>
          <a:solidFill>
            <a:srgbClr val="10243E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C9A227"/>
                </a:solidFill>
                <a:latin typeface="Calibri"/>
              </a:rPr>
              <a:t>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148072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שולח BALANCE_IS ל-Client (Push Event)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5778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</a:rPr>
              <a:t>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שכבת ההצפנה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Encryption Layer (RSA + AES)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RSA-2048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499616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הצפנת חילופי מפתחות — כל ישות מחזיקה צמד מפתחות RSA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2140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AES-256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57984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הצפנת הנתונים עצמם — מהיר וסימטרי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7977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Handshake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816352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A שולח מפתח AES מוצפן ב-RSA(pubkey של 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3814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74720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כל הודעה מוצפנת AES — אין plaintext על הרשת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9651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133088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Server Keys / Gateway Keys / Node Keys — מפתחות נפרדים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1">
                <a:solidFill>
                  <a:srgbClr val="B0BEC5"/>
                </a:solidFill>
                <a:latin typeface="Calibri"/>
              </a:rPr>
              <a:t>RSA = קופסת נעילה · AES = מנעול מהיר על התקשורת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מודל הנתונים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Data Model &amp;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227"/>
                </a:solidFill>
                <a:latin typeface="Courier New"/>
              </a:rPr>
              <a:t>DB/users.json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1444752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Calibri"/>
              </a:rPr>
              <a:t>משתמשים, סיסמאות מגובבות, מפתח ציבורי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227"/>
                </a:solidFill>
                <a:latin typeface="Courier New"/>
              </a:rPr>
              <a:t>DB/marketplace_items.json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993392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Calibri"/>
              </a:rPr>
              <a:t>נכסים — owner, price, asset_id,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227"/>
                </a:solidFill>
                <a:latin typeface="Courier New"/>
              </a:rPr>
              <a:t>DB/notifications.json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542032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Calibri"/>
              </a:rPr>
              <a:t>התראות לפי משתמש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227"/>
                </a:solidFill>
                <a:latin typeface="Courier New"/>
              </a:rPr>
              <a:t>DB/uploads/&lt;user&gt;/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3090672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Calibri"/>
              </a:rPr>
              <a:t>קבצי תמונה — שם = SHA-256 של התוכן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227"/>
                </a:solidFill>
                <a:latin typeface="Courier New"/>
              </a:rPr>
              <a:t>blockchain/node_&lt;ip&gt;_&lt;port&gt;/ledger.json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639312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Calibri"/>
              </a:rPr>
              <a:t>שרשרת הבלוקים לכל צומת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227"/>
                </a:solidFill>
                <a:latin typeface="Courier New"/>
              </a:rPr>
              <a:t>blockchain/node_&lt;ip&gt;_&lt;port&gt;/balances.json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4187952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Calibri"/>
              </a:rPr>
              <a:t>יתרות לפי public_key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227"/>
                </a:solidFill>
                <a:latin typeface="Courier New"/>
              </a:rPr>
              <a:t>Client/&lt;username&gt;/wallet.json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736592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Calibri"/>
              </a:rPr>
              <a:t>מפתחות ECDSA — פרטי+ציבורי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פרוטוקול ההודעות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Message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700" b="0" i="0">
                <a:solidFill>
                  <a:srgbClr val="B0BEC5"/>
                </a:solidFill>
                <a:latin typeface="Calibri"/>
              </a:rPr>
              <a:t>כל הודעה: JSON עם שדה type (אותיות גדולות) + נתונים נוספים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Client →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2316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LOGIN / REGISTER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GET_ASSETS_IDS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42900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BUY_ASSET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UPLOAD_ASSET_FULLY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96596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Server → Gateway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42316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TX_REQUEST_BUY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92608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TX_REQUEST_SELL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42900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CREATE_BALANCE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93192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UNLIST_ASSET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96596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Gateway → Bnode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42316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BROADCAST_TX_TO_VERIFY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92608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START_MINING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42900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GET_LEDGER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93192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GET_BALANCE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96596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Bnode → Gateway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42316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BUY_SUCCESS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92608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SELL_SUCCESS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342900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SEND_BALANCE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3931920"/>
            <a:ext cx="2697480" cy="420624"/>
          </a:xfrm>
          <a:prstGeom prst="rect">
            <a:avLst/>
          </a:prstGeom>
          <a:solidFill>
            <a:srgbClr val="10243E"/>
          </a:solidFill>
          <a:ln>
            <a:solidFill>
              <a:srgbClr val="45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1AFEF"/>
                </a:solidFill>
                <a:latin typeface="Courier New"/>
              </a:rPr>
              <a:t>ASSET_SIGNED_IN_BLOCKCHAIN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4300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C9A227"/>
                </a:solidFill>
                <a:latin typeface="David"/>
              </a:rPr>
              <a:t>סיכום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PoW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53896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Proof of Work — הוכחת עבודה מבוססת SHA-256, מאמת עסקאות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3911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ECDSA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75688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חתימה דיגיטלית על secp256k1 — אמינות ואי-כפירה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6090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RSA+AES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97480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הצפנה דו-שכבתית — חילופי מפתח RSA + ערוץ AES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82696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Star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319272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ניתוב מרכזי — Gateway מפשט את הקישוריות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0448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JSON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941064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שקיפות ויכולת בדיקה — ה-Ledger קריא לאדם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227"/>
                </a:solidFill>
                <a:latin typeface="Calibri"/>
              </a:rPr>
              <a:t>Flet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562856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FFFFFF"/>
                </a:solidFill>
                <a:latin typeface="Calibri"/>
              </a:rPr>
              <a:t>ממשק Cross-Platform מבוסס Python/Flutter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16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C9A227"/>
                </a:solidFill>
                <a:latin typeface="Calibri"/>
              </a:rPr>
              <a:t>Aurex — Building trust through cryptography, one block at a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